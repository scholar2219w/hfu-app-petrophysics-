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7876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Scope: Gorgonichthys-1, reservoir interval 4005–4076 m MD (log depth, drill floor) inside the Upper Vulcan Formation (top 3911.5 m, base 4218 m from Gold_Zones). Earlier Techlog work used 4000–4077 m then 4016–4077 m for core calibration; this study uses the requested 4005–4076 m. Headline: three HFUs; HFU-3 carries ~84% of core flow capacity in ~12% of the thickness. HFU-based permeability explains 92% of log-k variance in leave-one-out tests versus 70% for a single porosity–permeability transform.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judgement calls: (1) de-duplicate the core table — duplicated rows would double-weight every plug in the HFU statistics; (2) use suite-3 wireline because it is the dataset your Techlog interpretation used; (3) take ρma from measured grain density rather than the placeholder column; (4) formation temperature from the MDT quartz gauge (148 °C) rather than the LWD circulating temperature (~103 °C) — this matters for Rw.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residual shift, core porosity vs density correlation in core 3 was only r = −0.19; after +0.5 m it is −0.71. Leaving this uncorrected would have degraded every downstream core–log calibration (porosity, FZI prediction). The shift is small (&lt;1 m) and consistent between RHOB and NMR, which gives confidence it is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Display is the conventional Techlog-style layout. Core points are at shifted depth. Note the thin high-FZI beds: many are thinner than the ~0.6 m vertical resolution of density/NMR logs, which is why log-predicted FZI underestimates the highest unit.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caveat: all methods have RMSE close to the core-porosity standard deviation (0.026) because plugs sample 2.5 cm while logs average ~0.6 m, and many beds are thinner than log resolution. DMR is chosen because it is physically designed for gas with OBM, has the best correlation, and the best cross-validated error; the ND gas formula is the best uncalibrated option if NMR is not available in other wells.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SCAL notes a tentative link of lower m with higher permeability; with only five FRF plugs a single m = 1.86 is used. The HFU-1 Pc plug (4084 m) holding less water than the HFU-2 plug shows the Pc–HFU link is only partly supported by four plugs — recommend Pc per HFU in future SCAL.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Principle: use statistics to propose boundaries and physics/geology plus sample support to decide. The most parsimonious scheme that separates practically different flow behaviour is kept. Earlier app runs gave 0.484/1.09/3.53 µm (four units) — the extra 0.48 µm break is dropped for the reasons stated.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HFU-3 unit has only four plugs; its mean FZI (3.85 µm) is the least certain. HFU-1 includes the whole sub-1 mD population; the RQI–φz slope inside HFU-1 is flatter than 1 because the porosity range is narrow — expected for a tight unit.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Depth-blocked CV: the 31 plugs sorted by depth split into five contiguous blocks, so neighbouring plugs never sit in both train and test sets. The blind plug at 4071.8 m falls in a washout (bad-hole flag) and is excluded from the blind statistics.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References: Amaefule et al. (1993) SPE-26436; Freedman et al. (1998) DMR, SPE-49906; Gunter et al. (1997) SMLP, SPE-38679; Guo et al. (2005) DRT; Core Lab PRP-01029 SCAL (2001); Core Lab PRP-06145 RCA (2007); Core Lab AFL 2000-035/040 MDT fluids; Geoscience Australia Browse Basin petroleum systems (Brewster–Dinichthys–Gorgonichthys–Titanichthys wet-gas/condensate system).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GORGONICHTHYS-1 · UPPER VULCAN FORMATION (BREWSTER SANDS) · ICHTHYS FIELD, BROWSE BASIN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Hydraulic Flow Units of the 4005–4076 m reservoir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F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Core–log petrophysics, HFU identification and log-based prediction — what was done, which method won, and why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718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319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F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hydraulic flow units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F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(FZI breaks 1.11 &amp; 2.48 µm)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29718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84 %</a:t>
            </a:r>
            <a:endParaRPr lang="en-US" sz="50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39319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F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flow capacity (kh) from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F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HFU-3 — only 12 % of thickness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29718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5DAD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0.92</a:t>
            </a:r>
            <a:endParaRPr lang="en-US" sz="5000" dirty="0"/>
          </a:p>
        </p:txBody>
      </p:sp>
      <p:sp>
        <p:nvSpPr>
          <p:cNvPr id="10" name="Text 8"/>
          <p:cNvSpPr txBox="1"/>
          <p:nvPr/>
        </p:nvSpPr>
        <p:spPr>
          <a:xfrm>
            <a:off x="6217920" y="39319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F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 R² of core log k with HFUs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F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(single φ–k transform: 0.70)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9052560" y="29718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58D6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27 %</a:t>
            </a:r>
            <a:endParaRPr lang="en-US" sz="5000" dirty="0"/>
          </a:p>
        </p:txBody>
      </p:sp>
      <p:sp>
        <p:nvSpPr>
          <p:cNvPr id="12" name="Text 10"/>
          <p:cNvSpPr txBox="1"/>
          <p:nvPr/>
        </p:nvSpPr>
        <p:spPr>
          <a:xfrm>
            <a:off x="9052560" y="39319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F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Sw (Archie, SCAL m 1.86,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F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2.01, Rw 0.0875 Ω·m @148 °C)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76072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5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suite-3 wireline (AIT/DSI/LDL/CNL, 21-Jul-2000) + CMR · RCA (800 psi NOB) · Core Lab SCAL 2001 (PRP-01029) · Core Lab RCA 2007 (PRP-06145) · MDT (AFL 2000-035)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FA5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with the HFA Suite workflow + Python; 24 Sep 2026 · Pratyush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12064" cy="512064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74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used and the QC decisions that shaped the result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3152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exclusion is explicit — nothing removed silently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4150807"/>
              </p:ext>
            </p:extLst>
          </p:nvPr>
        </p:nvGraphicFramePr>
        <p:xfrm>
          <a:off x="457200" y="1234440"/>
          <a:ext cx="6766560" cy="2025396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/ file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for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Wireline suite 3 (ft → 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G1S3_AIT_DSI_NUC_MAINLOG.las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GR, RHOB, NPHI, DRHO, CALI, AT10–AT90, DTCO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CMR (NMR)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G1S3_CMR_1.las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TCMR, T2LM, CMFF (porosity &amp; perm)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Routine core (800 psi NOB)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Core_Data_depth_matched.csv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φ, k_air; report core-to-log shifts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 (Core Lab 2001)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P5285R1A2V1.pdf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= 1, m = 1.86, n = 2.01, Rw, Pc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RCA (Core Lab 2007)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G31857A3.pdf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grain density; blind k test (8 plugs)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MDT (2000)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MDT LAS + AFL 2000-035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= 148 °C; gas samples 4019–4135 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Zones / reservoir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Gold_Zones.csv, analyst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 Vulcan 3911.5–4218 m; 4005–4076 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498080" y="1234440"/>
            <a:ext cx="4206240" cy="1417320"/>
          </a:xfrm>
          <a:prstGeom prst="rect">
            <a:avLst/>
          </a:prstGeom>
          <a:solidFill>
            <a:srgbClr val="F1F4F6"/>
          </a:solidFill>
          <a:ln w="9525">
            <a:solidFill>
              <a:srgbClr val="DDE3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7635240" y="13258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table: 100 rows → 31 plugs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635240" y="1636776"/>
            <a:ext cx="39319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rows = 50 plugs duplicated → de-duplicated. 33 plugs fall in 4005–4076 m. Excluded 2: φ = 1.9 % tight streak (FZI unstable) and k = 63 mD at φ = 7.7 % (probable plug micro-fracture).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498080" y="2788920"/>
            <a:ext cx="4206240" cy="1234440"/>
          </a:xfrm>
          <a:prstGeom prst="rect">
            <a:avLst/>
          </a:prstGeom>
          <a:solidFill>
            <a:srgbClr val="F1F4F6"/>
          </a:solidFill>
          <a:ln w="9525">
            <a:solidFill>
              <a:srgbClr val="DDE3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7635240" y="28803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density = 2.65 g/cc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635240" y="3191256"/>
            <a:ext cx="39319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Grain-density column in the core file is a placeholder ("2"). Core Lab 2007 plugs average 2.638 g/cc and the SCAL plugs 2.65–2.66, so ρma = 2.65.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498080" y="4160520"/>
            <a:ext cx="4206240" cy="1417320"/>
          </a:xfrm>
          <a:prstGeom prst="rect">
            <a:avLst/>
          </a:prstGeom>
          <a:solidFill>
            <a:srgbClr val="F1F4F6"/>
          </a:solidFill>
          <a:ln w="9525">
            <a:solidFill>
              <a:srgbClr val="DDE3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7635240" y="4251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Fluids &amp; conditions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7635240" y="4562856"/>
            <a:ext cx="39319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Oil-based mud (MDT reports, OBDT image tool) → shallow, non-conductive invasion, so AT90 ≈ Rt. MDT quartz gauge 148 °C at 4034 m (the LWD 103 °C is circulating). Gas-condensate column.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4069080"/>
            <a:ext cx="67665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confirmed: φ fraction, k_air mD (4 rows with k = 0 lie outside the interval).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depths are wireline log depth (m MD, drill floor 26.4 m above LAT).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4937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 m</a:t>
            </a:r>
            <a:endParaRPr lang="en-US" sz="28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54864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interval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2176272" y="4937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466</a:t>
            </a:r>
            <a:endParaRPr lang="en-US" sz="2800" dirty="0"/>
          </a:p>
        </p:txBody>
      </p:sp>
      <p:sp>
        <p:nvSpPr>
          <p:cNvPr id="20" name="Text 17"/>
          <p:cNvSpPr txBox="1"/>
          <p:nvPr/>
        </p:nvSpPr>
        <p:spPr>
          <a:xfrm>
            <a:off x="2176272" y="54864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samples (0.15 m)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3895344" y="4937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2800" dirty="0"/>
          </a:p>
        </p:txBody>
      </p:sp>
      <p:sp>
        <p:nvSpPr>
          <p:cNvPr id="22" name="Text 19"/>
          <p:cNvSpPr txBox="1"/>
          <p:nvPr/>
        </p:nvSpPr>
        <p:spPr>
          <a:xfrm>
            <a:off x="3895344" y="54864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QC-passed core plugs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5614416" y="4937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18.5 %</a:t>
            </a:r>
            <a:endParaRPr lang="en-US" sz="2800" dirty="0"/>
          </a:p>
        </p:txBody>
      </p:sp>
      <p:sp>
        <p:nvSpPr>
          <p:cNvPr id="24" name="Text 21"/>
          <p:cNvSpPr txBox="1"/>
          <p:nvPr/>
        </p:nvSpPr>
        <p:spPr>
          <a:xfrm>
            <a:off x="5614416" y="54864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hole (flagged)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457200" y="64465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Core Lab PRP-01029 (SCAL, 2001) pp. 1-2 to 2-8; Core Lab PRP-06145 (RCA, 2007) p. 3-4; Core Lab AFL 2000-035/040 (MDT fluids); Schlumberger LAS headers (21-Jul-2000).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12064" cy="512064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74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Core–log depth match and bad-hole screening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3152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 shifts (+0.8 to +1.55 m) were a starting point, not the answer</a:t>
            </a:r>
            <a:endParaRPr lang="en-US" sz="1300" dirty="0"/>
          </a:p>
        </p:txBody>
      </p:sp>
      <p:pic>
        <p:nvPicPr>
          <p:cNvPr id="6" name="Image 0" descr="/tmp/claude-0/hfu/fig/f3_shi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34440"/>
            <a:ext cx="5760720" cy="41384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46520" y="1280160"/>
            <a:ext cx="5303520" cy="5029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shift tested on top of the report correction</a:t>
            </a:r>
            <a:endParaRPr lang="en-US" sz="1250" dirty="0"/>
          </a:p>
          <a:p>
            <a:pPr marL="355600" lvl="1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core φ with RHOB (inverse) and TCMR over ±1 m, per core</a:t>
            </a:r>
            <a:endParaRPr lang="en-US" sz="1250" dirty="0"/>
          </a:p>
          <a:p>
            <a:pPr marL="355600" lvl="1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3: +0.50 m (mean |r| 0.33 → 0.67); Core 5: +0.20 m (0.65 → 0.72); Core 4 (2 plugs): no change</a:t>
            </a:r>
            <a:endParaRPr lang="en-US" sz="1250" dirty="0"/>
          </a:p>
          <a:p>
            <a:pPr marL="355600" lvl="1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Plausible: the report shifts were tied to another log run, not suite 3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Bad-hole flag = any of three tests (± one sample)</a:t>
            </a:r>
            <a:endParaRPr lang="en-US" sz="1250" dirty="0"/>
          </a:p>
          <a:p>
            <a:pPr marL="355600" lvl="1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 − BS &gt; 1 in: 12.0 % of the interval</a:t>
            </a:r>
            <a:endParaRPr lang="en-US" sz="1250" dirty="0"/>
          </a:p>
          <a:p>
            <a:pPr marL="355600" lvl="1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|DRHO| &gt; 0.15 g/cc: 1.5 %</a:t>
            </a:r>
            <a:endParaRPr lang="en-US" sz="1250" dirty="0"/>
          </a:p>
          <a:p>
            <a:pPr marL="355600" lvl="1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Rugosity / mud signal (RHOB &lt; 2.15 or TCMR &gt; 0.25 with T2LM &lt; 10 ms): 13.7 %</a:t>
            </a:r>
            <a:endParaRPr lang="en-US" sz="1250" dirty="0"/>
          </a:p>
          <a:p>
            <a:pPr marL="355600" lvl="1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flagged: 18.5 % of 4005–4076 m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in washouts RHOB drops and TCMR reads mud, so PHIT spikes to 0.3–0.5 (as noted in your slide pack). Flagged samples get no φ, Sw, FZI or HFU prediction.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465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Depth-match metric: mean of −r(RHOB, core φ) and r(TCMR, core φ). Shifted core depth = MD + report correction + residual.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12064" cy="512064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74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Reservoir overview 4000–4080 m: gas-bearing, low-GR, heterogeneous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3152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 band = reservoir 4005–4076 m; right-hand track = predicted HFU (hatched = bad hole, no prediction)</a:t>
            </a:r>
            <a:endParaRPr lang="en-US" sz="1300" dirty="0"/>
          </a:p>
        </p:txBody>
      </p:sp>
      <p:pic>
        <p:nvPicPr>
          <p:cNvPr id="6" name="Image 0" descr="/tmp/claude-0/hfu/fig/f1_lay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8549640" cy="519103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189720" y="1188720"/>
            <a:ext cx="2560320" cy="2331720"/>
          </a:xfrm>
          <a:prstGeom prst="rect">
            <a:avLst/>
          </a:prstGeom>
          <a:solidFill>
            <a:srgbClr val="F1F4F6"/>
          </a:solidFill>
          <a:ln w="9525">
            <a:solidFill>
              <a:srgbClr val="DDE3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9326880" y="12801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logs say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9326880" y="1591056"/>
            <a:ext cx="228600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sands: GR ~ 32 gAPI.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density–neutron crossover throughout (gas).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AT90 ≈ 85 Ω·m, and AT10 tracks AT90 (OBM).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k spans 0.1–255 mD at similar φ — pore geometry, not porosity, controls flow.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9189720" y="3657600"/>
            <a:ext cx="2560320" cy="2423160"/>
          </a:xfrm>
          <a:prstGeom prst="rect">
            <a:avLst/>
          </a:prstGeom>
          <a:solidFill>
            <a:srgbClr val="F1F4F6"/>
          </a:solidFill>
          <a:ln w="9525">
            <a:solidFill>
              <a:srgbClr val="DDE3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9326880" y="37490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HFU pattern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9326880" y="4059936"/>
            <a:ext cx="2286000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HFU-3 (red) and HFU-2 (amber) occur as thin beds in the upper half (4007–4041 m).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4045–4066 m is dominated by HFU-1 (tight).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lower interval is interrupted by washouts.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64465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Tracks: CALI/BS · bad-hole flag · GR · AT90/AT10 · RHOB/NPHI · TCMR &amp; PHIT_DMR_CAL + core φ · SW_AR · K_PRED, KSDR_CAL + core k · FZI_PRED + core FZI · HFU_PRED.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12064" cy="512064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74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Porosity: density–magnetic resonance (DMR) calibrated to core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3152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candidate methods tested against 31 core plugs after the depth fix</a:t>
            </a:r>
            <a:endParaRPr lang="en-US" sz="1300" dirty="0"/>
          </a:p>
        </p:txBody>
      </p:sp>
      <p:pic>
        <p:nvPicPr>
          <p:cNvPr id="6" name="Image 0" descr="/tmp/claude-0/hfu/fig/f2_poros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7680960" cy="291829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321040" y="1188720"/>
            <a:ext cx="3474720" cy="4937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plain ND?</a:t>
            </a:r>
            <a:endParaRPr lang="en-US" sz="1200" dirty="0"/>
          </a:p>
          <a:p>
            <a:pPr marL="355600" lvl="1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lowers RHOB (PHID reads high) and lowers NPHI (reads low); the RMS gas formula only partly compensates</a:t>
            </a:r>
            <a:endParaRPr lang="en-US" sz="1200" dirty="0"/>
          </a:p>
          <a:p>
            <a:pPr marL="355600" lvl="1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NMR under-reads in gas (low hydrogen index), so TCMR alone is biased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DMR (Freedman et al., 1998) combines both</a:t>
            </a:r>
            <a:endParaRPr lang="en-US" sz="1200" dirty="0"/>
          </a:p>
          <a:p>
            <a:pPr marL="355600" lvl="1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φ_DMR = (PHID + λ·TCMR)/(1+λ), λ = [(ρf − ρg)/(ρma − ρf)]/(1 − HI_g·P_g) ≈ 0.76</a:t>
            </a:r>
            <a:endParaRPr lang="en-US" sz="1200" dirty="0"/>
          </a:p>
          <a:p>
            <a:pPr marL="355600" lvl="1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correlation with core (r 0.65) and lowest leave-one-out error after calibration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Final: PHIT = 0.0154 + 0.705·φ_DMR (bias 0.000, RMSE 0.017)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343400"/>
          <a:ext cx="7680960" cy="131826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bias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LOO-cal. RMSE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PHID (ρfl 1.0)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+0.031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0.0230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 gas RMS (Techlog default)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0.0240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TCMR (NMR)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0.0231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F4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DMR (λ 0.76) — selected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+0.024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0.0214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57200" y="64465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φ at 800 psi NOB (not overburden-corrected; expect ≤ 0.005 v/v reduction in situ). Plug-to-log scale mismatch caps achievable r (core φ SD is only 0.026).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12064" cy="512064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74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 saturation: Archie with SCAL m, n and brine Rw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3152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interval has no water leg, so a Pickett water line cannot be picked in-zone</a:t>
            </a:r>
            <a:endParaRPr lang="en-US" sz="1300" dirty="0"/>
          </a:p>
        </p:txBody>
      </p:sp>
      <p:pic>
        <p:nvPicPr>
          <p:cNvPr id="6" name="Image 0" descr="/tmp/claude-0/hfu/fig/f4_picket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4206240" cy="3479107"/>
          </a:xfrm>
          <a:prstGeom prst="rect">
            <a:avLst/>
          </a:prstGeom>
        </p:spPr>
      </p:pic>
      <p:pic>
        <p:nvPicPr>
          <p:cNvPr id="7" name="Image 1" descr="/tmp/claude-0/hfu/fig/f9_p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188720"/>
            <a:ext cx="4206240" cy="3196231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235440" y="1188720"/>
          <a:ext cx="2514600" cy="2104644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a, 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1.0, 1.86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 FRF, 4100 psi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 RI (avg)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Rw @ 25 °C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0.319 Ω·m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20,000 ppm brine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formation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148 °C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MDT gauge 4034 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Rw @ 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0.0875 Ω·m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Arps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AT90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OBM, minor invasion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457200" y="4800600"/>
            <a:ext cx="1124712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Rwa P10 = 0.58 Ω·m ≫ Rw 0.0875: every good-hole point plots in hydrocarbon (gas confirmed by MDT at 4019–4135 m). Rw therefore comes from the SCAL brine, not the plot.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Sw P50 27 % (P10–P90 16–38 %); HFU-1 28 %, HFU-2 18 %, HFU-3 15 %.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centrifuge Swi at 350 psi = 12–43 % — same range. The HFU-3 plug holds the least water (12 %).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Techlog defaults (m = n = 2, Rw 0.05) would give Sw ≈ 20 % — optimistic by ~7 s.u.</a:t>
            </a:r>
            <a:endParaRPr lang="en-US" sz="1200" dirty="0"/>
          </a:p>
        </p:txBody>
      </p:sp>
      <p:sp>
        <p:nvSpPr>
          <p:cNvPr id="10" name="Text 5"/>
          <p:cNvSpPr txBox="1"/>
          <p:nvPr/>
        </p:nvSpPr>
        <p:spPr>
          <a:xfrm>
            <a:off x="457200" y="64465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Arps: Rw(T2) = Rw(T1)·(T1 + 21.5)/(T2 + 21.5), °C. Pc plugs are outside 4005–4076 m (3970–4084 m) and are assigned an HFU by FZI.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12064" cy="512064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74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HFU identification: three units defined by stable FZI breaks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3152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FZI = RQI/φz, with RQI = 0.0314·√(k/φ) and φz = φ/(1−φ) (Amaefule et al., 1993)</a:t>
            </a:r>
            <a:endParaRPr lang="en-US" sz="1300" dirty="0"/>
          </a:p>
        </p:txBody>
      </p:sp>
      <p:pic>
        <p:nvPicPr>
          <p:cNvPr id="6" name="Image 0" descr="/tmp/claude-0/hfu/fig/f6_id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6675120" cy="2402851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840480"/>
          <a:ext cx="6675120" cy="116586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(31 plugs)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= 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= 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= 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= 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GMM BIC (lower = better; K1 = 30.3)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Jenks goodness of variance fit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Plugs per unit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21/10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21/6/4 *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10/11/6/4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10/11/5/3/2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 recurs at K = 2, 3, 4?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1.11, 2.48 *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5623560"/>
            <a:ext cx="2103120" cy="640080"/>
          </a:xfrm>
          <a:prstGeom prst="roundRect">
            <a:avLst>
              <a:gd name="adj" fmla="val 11429"/>
            </a:avLst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 txBox="1"/>
          <p:nvPr/>
        </p:nvSpPr>
        <p:spPr>
          <a:xfrm>
            <a:off x="457200" y="56235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HFU-1</a:t>
            </a:r>
            <a:endParaRPr lang="en-US" sz="14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FZI &lt; 1.11 µm · 21 plugs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2697480" y="5623560"/>
            <a:ext cx="2103120" cy="640080"/>
          </a:xfrm>
          <a:prstGeom prst="roundRect">
            <a:avLst>
              <a:gd name="adj" fmla="val 11429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 txBox="1"/>
          <p:nvPr/>
        </p:nvSpPr>
        <p:spPr>
          <a:xfrm>
            <a:off x="2697480" y="56235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HFU-2</a:t>
            </a:r>
            <a:endParaRPr lang="en-US" sz="14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1.11–2.48 µm · 6 plugs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937760" y="5623560"/>
            <a:ext cx="2103120" cy="640080"/>
          </a:xfrm>
          <a:prstGeom prst="roundRect">
            <a:avLst>
              <a:gd name="adj" fmla="val 11429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 txBox="1"/>
          <p:nvPr/>
        </p:nvSpPr>
        <p:spPr>
          <a:xfrm>
            <a:off x="4937760" y="56235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HFU-3</a:t>
            </a:r>
            <a:endParaRPr lang="en-US" sz="14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2.48 µm · 4 plugs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5257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selected scheme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7406640" y="1188720"/>
            <a:ext cx="4343400" cy="5120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3 units, and why these breaks</a:t>
            </a:r>
            <a:endParaRPr lang="en-US" sz="1200" dirty="0"/>
          </a:p>
          <a:p>
            <a:pPr marL="355600" lvl="1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(BIC) support at least two populations; 1.11 µm is the strongest break</a:t>
            </a:r>
            <a:endParaRPr lang="en-US" sz="1200" dirty="0"/>
          </a:p>
          <a:p>
            <a:pPr marL="355600" lvl="1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2.48 µm recurs in the K = 3 and K = 4 Jenks solutions → stable, not an artefact</a:t>
            </a:r>
            <a:endParaRPr lang="en-US" sz="1200" dirty="0"/>
          </a:p>
          <a:p>
            <a:pPr marL="355600" lvl="1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0.48 µm splits two groups that both sit below 1 mD (k_air, no Klinkenberg correction) — no practical difference in flow</a:t>
            </a:r>
            <a:endParaRPr lang="en-US" sz="1200" dirty="0"/>
          </a:p>
          <a:p>
            <a:pPr marL="355600" lvl="1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≥ 4 leaves units with 2–4 plugs → over-fits 31 samples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DRT (2 ln FZI + 10.6) gives 7 classes (8–14): too many for this data; used as a cross-check only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HFU-1 &lt; 1.11 µm ≤ HFU-2 &lt; 2.48 µm ≤ HFU-3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457200" y="64465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Jenks = natural breaks on log10 FZI (exhaustive dynamic programming). GMM = Gaussian mixture on log10 FZI. DRT after Guo et al. (2005).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12064" cy="512064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74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HFU characterisation: one φ–k law per unit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3152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unit follows its own unit-slope RQI–φz line; k = 1014·FZI²·φ³/(1−φ)²</a:t>
            </a:r>
            <a:endParaRPr lang="en-US" sz="1300" dirty="0"/>
          </a:p>
        </p:txBody>
      </p:sp>
      <p:pic>
        <p:nvPicPr>
          <p:cNvPr id="6" name="Image 0" descr="/tmp/claude-0/hfu/fig/f5_kphi_rq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7315200" cy="2995577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343400"/>
          <a:ext cx="7315200" cy="932688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HFU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φ mean (range)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geomean (range), mD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FZI µm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equation (mD)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5D6D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HFU-1 tight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0.095 (0.069–0.126)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 (0.10–0.74)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= 239·φ³/(1−φ)²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D689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HFU-2 moderate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0.121 (0.100–0.140)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 (3.3–17)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= 2 804·φ³/(1−φ)²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HFU-3 high flow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0.143 (0.125–0.172)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 (26–255)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= 15 064·φ³/(1−φ)²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046720" y="1188720"/>
            <a:ext cx="3703320" cy="1417320"/>
          </a:xfrm>
          <a:prstGeom prst="rect">
            <a:avLst/>
          </a:prstGeom>
          <a:solidFill>
            <a:srgbClr val="F1F4F6"/>
          </a:solidFill>
          <a:ln w="9525">
            <a:solidFill>
              <a:srgbClr val="DDE3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183880" y="128016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Permeability skill (core domain)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8183880" y="1591056"/>
            <a:ext cx="34290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φ–k transform: R² 0.74 (LOO 0.70).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HFU transforms: R² 0.94 (LOO 0.92).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Unexplained variance is ~4× smaller.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8046720" y="4800600"/>
            <a:ext cx="3703320" cy="1463040"/>
          </a:xfrm>
          <a:prstGeom prst="rect">
            <a:avLst/>
          </a:prstGeom>
          <a:solidFill>
            <a:srgbClr val="F1F4F6"/>
          </a:solidFill>
          <a:ln w="9525">
            <a:solidFill>
              <a:srgbClr val="DDE3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 txBox="1"/>
          <p:nvPr/>
        </p:nvSpPr>
        <p:spPr>
          <a:xfrm>
            <a:off x="8183880" y="489204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Capillary-pressure link (SCAL)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8183880" y="5202936"/>
            <a:ext cx="34290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HFU-3 plug (FZI 4.3 µm) drains to 12 % Sw at 350 psi; the HFU-1 and HFU-2 plugs hold 17–35 %. Four plugs only, and all outside the interval.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46720" y="2743200"/>
            <a:ext cx="3703320" cy="1920240"/>
          </a:xfrm>
          <a:prstGeom prst="rect">
            <a:avLst/>
          </a:prstGeom>
          <a:solidFill>
            <a:srgbClr val="F1F4F6"/>
          </a:solidFill>
          <a:ln w="9525">
            <a:solidFill>
              <a:srgbClr val="DDE3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 txBox="1"/>
          <p:nvPr/>
        </p:nvSpPr>
        <p:spPr>
          <a:xfrm>
            <a:off x="8183880" y="283464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Geological reading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8183880" y="3145536"/>
            <a:ext cx="342900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 is similar across units (25–30 gAPI), so clay does not separate them — grain size, sorting and cement do. This matches Core Lab's SCAL conclusion: quality is "controlled by grain-size (pore-throat) distribution rather than clay".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465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 = leave-one-out: unit mean FZI recomputed without the tested plug. k_air at 800 psi NOB. Core Lab PRP-01029 p. 1-2.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12064" cy="512064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74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Extending HFUs to the logged interval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3152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log10 FZI = −0.932 − 0.0244·GR + 11.93·φ_DMR — chosen for physics and depth-blocked skill, not in-sample fit</a:t>
            </a:r>
            <a:endParaRPr lang="en-US" sz="1300" dirty="0"/>
          </a:p>
        </p:txBody>
      </p:sp>
      <p:pic>
        <p:nvPicPr>
          <p:cNvPr id="6" name="Image 0" descr="/tmp/claude-0/hfu/fig/f7_p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7498080" cy="2924368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251960"/>
          <a:ext cx="4572000" cy="1165860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FZI model (31 plugs, 5 depth blocks)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R²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 + φ_DMR (selected: 2 physical inputs)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GR, RHOB, NPHI, DTCO (MLR)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(7 logs)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NMR T2LM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−0.32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303520" y="4160520"/>
            <a:ext cx="6446520" cy="2240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test: 8 RCA-2007 plugs (never used in training)</a:t>
            </a:r>
            <a:endParaRPr lang="en-US" sz="1150" dirty="0"/>
          </a:p>
          <a:p>
            <a:pPr marL="355600" lvl="1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HFU class exact 5/8, within one class 8/8</a:t>
            </a:r>
            <a:endParaRPr lang="en-US" sz="1150" dirty="0"/>
          </a:p>
          <a:p>
            <a:pPr marL="355600" lvl="1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error 0.91 decades (HFU route) vs 0.72 (calibrated KSDR) vs 1.04 (single φ–k)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limitation</a:t>
            </a:r>
            <a:endParaRPr lang="en-US" sz="1150" dirty="0"/>
          </a:p>
          <a:p>
            <a:pPr marL="355600" lvl="1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smooth thin high-FZI beds: HFU-3 is 13 % of core plugs but only 2 % of log samples</a:t>
            </a:r>
            <a:endParaRPr lang="en-US" sz="1150" dirty="0"/>
          </a:p>
          <a:p>
            <a:pPr marL="355600" lvl="1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logs the HFU route ties the single transform (CV 0.65 vs 0.66 decades)</a:t>
            </a:r>
            <a:endParaRPr lang="en-US" sz="1150" dirty="0"/>
          </a:p>
          <a:p>
            <a:pPr marL="355600" lvl="1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HFU_PRED for zonation and K_PRED with KSDR_CAL as a cross-check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8183880" y="1188720"/>
            <a:ext cx="3566160" cy="2788920"/>
          </a:xfrm>
          <a:prstGeom prst="rect">
            <a:avLst/>
          </a:prstGeom>
          <a:solidFill>
            <a:srgbClr val="F1F4F6"/>
          </a:solidFill>
          <a:ln w="9525">
            <a:solidFill>
              <a:srgbClr val="DDE3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6"/>
          <p:cNvSpPr txBox="1"/>
          <p:nvPr/>
        </p:nvSpPr>
        <p:spPr>
          <a:xfrm>
            <a:off x="8321040" y="12801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model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8321040" y="1591056"/>
            <a:ext cx="3291840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FZI rises with porosity (better sorting and less cement) and falls with clay (GR).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Resistivity and T2 are fluid- and OBM-affected in gas, and they degraded blocked-CV skill.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7-input random forest over-fits 31 plugs.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64465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K_PRED = 1014·FZI_PRED²·PHIT³/(1−PHIT)². KSDR_CAL = C·T2LM²·TCMR⁴ with C fitted to core. The RCA-2007 plugs are at 400 psi confining (ambient) and use the same core-to-log shifts.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12064" cy="512064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74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Interpretation and recommendations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3152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is concentrated in thin HFU-3 beds — they, not average porosity, control deliverability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65836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/tmp/claude-0/hfu/fig/f8_sm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34440"/>
            <a:ext cx="6492240" cy="246665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397764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343400"/>
            <a:ext cx="36118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3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HFU-3: 12 % of thickness, 15 % of storage, 84 % of kh — the speed zones at ~4008–4009, 4032 and 4041 m.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3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HFU-1 (70 % of thickness) is storage with little flow and acts as a baffle; its Sw is higher (28 %).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3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steep Lorenz curve means a strongly heterogeneous, layered flow profile.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4206240" y="397764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Best-practice choices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206240" y="4343400"/>
            <a:ext cx="36118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3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PHIT = core-calibrated DMR (gas + OBM).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3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 = Archie with measured SCAL m, n and Rw at MDT temperature.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3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HFUs = 3 units from stable Jenks breaks, cross-checked with GMM.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3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Logs: GR + φ_DMR → FZI, with depth-blocked and blind validation.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397764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8D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001000" y="4343400"/>
            <a:ext cx="36118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3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Petrography (thin section, XRD, SEM) per HFU to confirm what controls each unit.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3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Klinkenberg-corrected, stressed k and Pc on HFU-2/3 plugs.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3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log (OBDT) to resolve the thin HFU-3 beds.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3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HFU scheme to Dinichthys-1 and Titanichthys-1 cores.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7223760" y="123444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flow shares are thickness-weighted over the 31 QC-passed plugs; log HFU_PRED fractions (good hole): HFU-1 81 %, HFU-2 17 %, HFU-3 2 %.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223760" y="2148840"/>
            <a:ext cx="4526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Uncertainty: </a:t>
            </a:r>
            <a:r>
              <a:rPr lang="en-US" sz="1150" dirty="0">
                <a:solidFill>
                  <a:srgbClr val="E3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4 plugs in HFU-3; k_air at 800 psi is not Klinkenberg- or stress-corrected; 18.5 % of the interval is bad hole; the four Pc plugs lie outside the interval.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3265</Words>
  <Application>Microsoft Office PowerPoint</Application>
  <PresentationFormat>Widescreen</PresentationFormat>
  <Paragraphs>291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Gorgonichthys-1 HFU study 4005-4076 m</dc:title>
  <dc:subject>PptxGenJS Presentation</dc:subject>
  <dc:creator>PptxGenJS</dc:creator>
  <cp:lastModifiedBy>Pratyush Singh</cp:lastModifiedBy>
  <cp:revision>2</cp:revision>
  <dcterms:created xsi:type="dcterms:W3CDTF">2026-09-24T16:29:34Z</dcterms:created>
  <dcterms:modified xsi:type="dcterms:W3CDTF">2026-09-24T17:34:51Z</dcterms:modified>
</cp:coreProperties>
</file>